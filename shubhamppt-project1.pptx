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FCB7-0EDC-F772-B41D-3D9A08CD40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AAB92-AA61-9C2E-704D-68B5A3789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F3F4F-6757-CE0D-EB86-160E76C22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4AB5A-C670-74EB-12D4-31A4D1DD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EC9FA-03D0-1F57-EC91-80DB485D6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07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6F45A-5F3C-FB43-1FE1-54119203F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89F9D-B1C2-CD3A-E4D0-D3A411574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0DB0A-32ED-8E3C-04FE-69F929647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316A0-67A5-1B97-EAC7-27CE0D9C9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9705-E615-AC22-49CF-D926A5C38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10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0694E-70AD-DA4D-8410-8B408A92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97C6E-3D5C-752D-CD52-1B53BCB20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28BA6-AE2A-D7D7-332B-BC2C4114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5959C-9653-5C77-AA29-264830D51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C5E4F-E924-82E3-21F4-A940A2D8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95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8F5C-C7F1-BEF8-3627-F58B2C27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DE74D-9598-D0FE-2671-086C53225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EC089F-FB11-9BAA-CEAA-D0BC859D1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26752C-1960-C702-17AE-766B228D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67010-2607-5000-AFD3-B58BF9C0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4DAA1-B372-C9FB-C29F-4394E9C4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87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0F81-1B3B-7F25-BD70-9FFF6D81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CD9B1-0300-85CA-F072-7EDFBB326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2D785-0968-115C-3E8B-0E1864781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8536A4-EC53-D1B6-F1FC-B672F9FB5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DDA49F-7693-3B72-C52C-FC3CC4C27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11EC2-E414-E71A-BD29-DCA315C4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F8849-7DC8-7860-C10A-A894B13DD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FD241-CD82-2A57-3520-67BCF3D4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493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A5164-CE96-ED3B-6D26-4CFF15560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2EDA6-D3D8-C8F1-AC08-11613CB1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BFD3CC-D2D6-E88B-2307-44B564C3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1512F-492A-69E3-3CE7-0DCB8478A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676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2AF536-709B-5217-A63D-C2E5B080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7F90E7-8463-08E6-C87A-AE2E09B74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B9428-6D4E-4287-CDCB-FFF2D95D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984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F8484-55A9-CF9E-A909-31EF25916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9F36B-D6F7-06D1-04C3-841C34116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32B0F6-7824-D6B3-8898-10F33071C8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58CA3B-1E8E-D86E-F6EB-9B516309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723D0E-D75D-23AF-DDAF-B542D149D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5427D-5AC9-E1CC-CA62-F68C5291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573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C9B62-5353-6E5C-6AA7-86162696A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ACE38C-6C6E-40C0-4B53-6C107B896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80338-38CF-2475-AD7D-C67D637FEC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24018-26D4-8ED4-16D6-D8B6D3760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9CB8ED-2572-761D-420F-13869CD24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FAEA7-D0AF-EB51-FFEC-6781D2E68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019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B6BE9-FF21-2F2E-414C-63B919C30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75DBE-3767-4FAD-AAD5-479942317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5B19-926C-00E1-9EAA-2723D2ED6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6295-C457-6A47-2C99-B354043FC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F4E3D-BB14-F19A-3AF2-AB5B5645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56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7C7350-9C4B-12BD-D59D-1FA546B95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90CAE1-4A8C-FB4B-7A41-E733E266BB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F73234-56FB-58B9-A098-493B2269A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27105-B50D-C589-B496-A705D28DE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DDF2A-6554-0AE4-ABB4-A2598D85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48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441A54-DD8C-E6AC-EB28-A02761848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EE53-65E2-204A-388D-39BA67DD6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3CFFB-79D2-35A7-A4E6-0E6F040CC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7D624-044E-416E-B83B-2A319681E3A7}" type="datetimeFigureOut">
              <a:rPr lang="en-IN" smtClean="0"/>
              <a:t>04-12-2025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3FD06-1B43-5EA2-5BDB-4E7B5F3EB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A95EC-1373-4AA9-709E-F6FC00228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2E2271-EF7B-4FB6-B52D-B36993EB9FA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58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AABB-8915-4032-25DC-821112405D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BUSINESS PERFORMANCE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6839FC-333A-8C40-196C-A60D6CC20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3188061"/>
          </a:xfrm>
        </p:spPr>
        <p:txBody>
          <a:bodyPr>
            <a:normAutofit/>
          </a:bodyPr>
          <a:lstStyle/>
          <a:p>
            <a:r>
              <a:rPr lang="en-US" dirty="0"/>
              <a:t>This report provides a comprehensive analysis of business performance as visualized in the uploaded dashboard. The dashboard evaluates </a:t>
            </a:r>
            <a:r>
              <a:rPr lang="en-US" b="1" dirty="0"/>
              <a:t>Profit</a:t>
            </a:r>
            <a:r>
              <a:rPr lang="en-US" dirty="0"/>
              <a:t>, </a:t>
            </a:r>
            <a:r>
              <a:rPr lang="en-US" b="1" dirty="0"/>
              <a:t>Sales</a:t>
            </a:r>
            <a:r>
              <a:rPr lang="en-US" dirty="0"/>
              <a:t>, and </a:t>
            </a:r>
            <a:r>
              <a:rPr lang="en-US" b="1" dirty="0"/>
              <a:t>Quantity Sold</a:t>
            </a:r>
            <a:r>
              <a:rPr lang="en-US" dirty="0"/>
              <a:t> across different </a:t>
            </a:r>
            <a:r>
              <a:rPr lang="en-US" b="1" dirty="0"/>
              <a:t>U.S. states</a:t>
            </a:r>
            <a:r>
              <a:rPr lang="en-US" dirty="0"/>
              <a:t> and </a:t>
            </a:r>
            <a:r>
              <a:rPr lang="en-US" b="1" dirty="0"/>
              <a:t>product categories</a:t>
            </a:r>
            <a:r>
              <a:rPr lang="en-US" dirty="0"/>
              <a:t>. It also assesses performance by </a:t>
            </a:r>
            <a:r>
              <a:rPr lang="en-US" b="1" dirty="0"/>
              <a:t>Product Name</a:t>
            </a:r>
            <a:r>
              <a:rPr lang="en-US" dirty="0"/>
              <a:t> and </a:t>
            </a:r>
            <a:r>
              <a:rPr lang="en-US" b="1" dirty="0"/>
              <a:t>Product ID</a:t>
            </a:r>
            <a:r>
              <a:rPr lang="en-US" dirty="0"/>
              <a:t>, highlighting patterns, top performers, and areas requiring improvement.</a:t>
            </a:r>
          </a:p>
          <a:p>
            <a:r>
              <a:rPr lang="en-US" dirty="0"/>
              <a:t>The data presented reveals significant concentration in revenue sources, strong regional dominance, and identifiable opportunities for strategic business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6078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853B-AF4C-EE82-1B64-003FA2E9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of Key 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B382-F614-7BAC-66A2-76939D874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California</a:t>
            </a:r>
            <a:r>
              <a:rPr lang="en-US" dirty="0"/>
              <a:t> is the top-performing state in terms of </a:t>
            </a:r>
            <a:r>
              <a:rPr lang="en-US" b="1" dirty="0"/>
              <a:t>profit, sales, and quantity</a:t>
            </a:r>
            <a:r>
              <a:rPr lang="en-US" dirty="0"/>
              <a:t>, contributing the largest share to overall performance.</a:t>
            </a:r>
          </a:p>
          <a:p>
            <a:r>
              <a:rPr lang="en-US" dirty="0"/>
              <a:t>The product </a:t>
            </a:r>
            <a:r>
              <a:rPr lang="en-US" b="1" dirty="0"/>
              <a:t>Canon image CLASS</a:t>
            </a:r>
            <a:r>
              <a:rPr lang="en-US" dirty="0"/>
              <a:t> is a major profit driver, earning significantly more than all other products.</a:t>
            </a:r>
          </a:p>
          <a:p>
            <a:r>
              <a:rPr lang="en-US" dirty="0"/>
              <a:t>Sales and profit patterns across states show a direct correlation, indicating consistent pricing and margin structures.</a:t>
            </a:r>
          </a:p>
          <a:p>
            <a:r>
              <a:rPr lang="en-US" dirty="0"/>
              <a:t>A single Product ID (TEC-CO–) significantly outperforms others, representing a critical revenue concentration risk.</a:t>
            </a:r>
          </a:p>
          <a:p>
            <a:r>
              <a:rPr lang="en-US" dirty="0"/>
              <a:t>Regional and product-level performance is highly uneven, with notable dependency on a select few contributors.</a:t>
            </a:r>
          </a:p>
          <a:p>
            <a:r>
              <a:rPr lang="en-US" dirty="0"/>
              <a:t>Map visuals are disabled in the system, limiting geographical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04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A3D5-C7AF-9CEB-9C32-06F3EAD3A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KPI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0B8B3-C62C-8353-489B-B9F8F09D9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dirty="0"/>
              <a:t>The KPI panel at the top provides several numeric indicators representing state-level or overall performance metrics. Key values visible in the dashboard include:</a:t>
            </a:r>
          </a:p>
          <a:p>
            <a:r>
              <a:rPr lang="en-US" b="1" dirty="0"/>
              <a:t>3511.49</a:t>
            </a:r>
            <a:r>
              <a:rPr lang="en-US" dirty="0"/>
              <a:t> – Connecticut Performance Indicator</a:t>
            </a:r>
          </a:p>
          <a:p>
            <a:r>
              <a:rPr lang="en-US" b="1" dirty="0"/>
              <a:t>4008.687</a:t>
            </a:r>
            <a:r>
              <a:rPr lang="en-US" dirty="0"/>
              <a:t>, </a:t>
            </a:r>
            <a:r>
              <a:rPr lang="en-US" b="1" dirty="0"/>
              <a:t>11678.129</a:t>
            </a:r>
            <a:r>
              <a:rPr lang="en-US" dirty="0"/>
              <a:t>, </a:t>
            </a:r>
            <a:r>
              <a:rPr lang="en-US" b="1" dirty="0"/>
              <a:t>13384.357</a:t>
            </a:r>
            <a:r>
              <a:rPr lang="en-US" dirty="0"/>
              <a:t>, </a:t>
            </a:r>
            <a:r>
              <a:rPr lang="en-US" b="1" dirty="0"/>
              <a:t>3316.76</a:t>
            </a:r>
            <a:r>
              <a:rPr lang="en-US" dirty="0"/>
              <a:t> – Additional KPIs representing either profit or sales totals (exact metric label not indicated)</a:t>
            </a:r>
          </a:p>
          <a:p>
            <a:r>
              <a:rPr lang="en-US" dirty="0"/>
              <a:t>These numbers suggest a varied performance distribution across states, with some states significantly outperforming others.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620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A945-3C6E-297C-8215-888B2E419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Profit by Product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1B1E2-02BF-8A69-A4D8-0B032C967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0154"/>
          </a:xfrm>
        </p:spPr>
        <p:txBody>
          <a:bodyPr>
            <a:noAutofit/>
          </a:bodyPr>
          <a:lstStyle/>
          <a:p>
            <a:r>
              <a:rPr lang="en-US" sz="900" b="1" dirty="0"/>
              <a:t>4.1 Top Profit Generator</a:t>
            </a:r>
          </a:p>
          <a:p>
            <a:r>
              <a:rPr lang="en-US" sz="900" b="1" dirty="0"/>
              <a:t>Canon image CLASS</a:t>
            </a:r>
            <a:endParaRPr lang="en-US" sz="900" dirty="0"/>
          </a:p>
          <a:p>
            <a:pPr lvl="1"/>
            <a:r>
              <a:rPr lang="en-US" sz="900" dirty="0"/>
              <a:t>Generates </a:t>
            </a:r>
            <a:r>
              <a:rPr lang="en-US" sz="900" b="1" dirty="0"/>
              <a:t>the highest profit</a:t>
            </a:r>
            <a:r>
              <a:rPr lang="en-US" sz="900" dirty="0"/>
              <a:t> by a large margin.</a:t>
            </a:r>
          </a:p>
          <a:p>
            <a:pPr lvl="1"/>
            <a:r>
              <a:rPr lang="en-US" sz="900" dirty="0"/>
              <a:t>Its bar extends far beyond any other product in the chart.</a:t>
            </a:r>
          </a:p>
          <a:p>
            <a:r>
              <a:rPr lang="en-US" sz="900" b="1" dirty="0"/>
              <a:t>4.2 Other Heavy Contributors</a:t>
            </a:r>
          </a:p>
          <a:p>
            <a:r>
              <a:rPr lang="en-US" sz="900" dirty="0"/>
              <a:t>Products generating moderate but meaningful profit include:</a:t>
            </a:r>
          </a:p>
          <a:p>
            <a:r>
              <a:rPr lang="en-US" sz="900" dirty="0"/>
              <a:t>Fellowes PB500 Electric Bindery System</a:t>
            </a:r>
          </a:p>
          <a:p>
            <a:r>
              <a:rPr lang="en-US" sz="900" dirty="0"/>
              <a:t>Hewlett Packard Printer Models</a:t>
            </a:r>
          </a:p>
          <a:p>
            <a:r>
              <a:rPr lang="en-US" sz="900" dirty="0"/>
              <a:t>Canon PC1060</a:t>
            </a:r>
          </a:p>
          <a:p>
            <a:r>
              <a:rPr lang="en-US" sz="900" dirty="0"/>
              <a:t>HP </a:t>
            </a:r>
            <a:r>
              <a:rPr lang="en-US" sz="900" dirty="0" err="1"/>
              <a:t>Designjet</a:t>
            </a:r>
            <a:r>
              <a:rPr lang="en-US" sz="900" dirty="0"/>
              <a:t> T520</a:t>
            </a:r>
          </a:p>
          <a:p>
            <a:r>
              <a:rPr lang="en-US" sz="900" dirty="0"/>
              <a:t>Ativa V4110MDD</a:t>
            </a:r>
          </a:p>
          <a:p>
            <a:r>
              <a:rPr lang="en-US" sz="900" dirty="0"/>
              <a:t>3D Systems Cube Printer</a:t>
            </a:r>
          </a:p>
          <a:p>
            <a:r>
              <a:rPr lang="en-US" sz="900" dirty="0"/>
              <a:t>Plantronics Savi Headset</a:t>
            </a:r>
          </a:p>
          <a:p>
            <a:r>
              <a:rPr lang="en-US" sz="900" dirty="0" err="1"/>
              <a:t>Ibico</a:t>
            </a:r>
            <a:r>
              <a:rPr lang="en-US" sz="900" dirty="0"/>
              <a:t> EPK-21</a:t>
            </a:r>
          </a:p>
          <a:p>
            <a:r>
              <a:rPr lang="en-US" sz="900" dirty="0"/>
              <a:t>Zebra ZM400</a:t>
            </a:r>
          </a:p>
          <a:p>
            <a:r>
              <a:rPr lang="en-US" sz="900" dirty="0"/>
              <a:t>Honeywell </a:t>
            </a:r>
            <a:r>
              <a:rPr lang="en-US" sz="900" dirty="0" err="1"/>
              <a:t>Envira</a:t>
            </a:r>
            <a:endParaRPr lang="en-US" sz="900" dirty="0"/>
          </a:p>
          <a:p>
            <a:r>
              <a:rPr lang="en-US" sz="900" b="1" dirty="0"/>
              <a:t>4.3 Interpretation</a:t>
            </a:r>
          </a:p>
          <a:p>
            <a:r>
              <a:rPr lang="en-US" sz="900" dirty="0"/>
              <a:t>Profit is </a:t>
            </a:r>
            <a:r>
              <a:rPr lang="en-US" sz="900" b="1" dirty="0"/>
              <a:t>highly concentrated</a:t>
            </a:r>
            <a:r>
              <a:rPr lang="en-US" sz="900" dirty="0"/>
              <a:t> among a few products.</a:t>
            </a:r>
          </a:p>
          <a:p>
            <a:r>
              <a:rPr lang="en-US" sz="900" dirty="0"/>
              <a:t>The top product alone contributes disproportionately, creating dependency risk.</a:t>
            </a:r>
          </a:p>
          <a:p>
            <a:r>
              <a:rPr lang="en-US" sz="900" dirty="0"/>
              <a:t>Mid-range products offer opportunities for promotion and upsell to diversify profit sources.</a:t>
            </a:r>
          </a:p>
          <a:p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772787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0DF4A-AEEC-1040-3BEB-B692BA9BB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C815-5103-B2B7-C64F-11422A879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8955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375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BUSINESS PERFORMANCE REPORT</vt:lpstr>
      <vt:lpstr>Summary of Key Findings</vt:lpstr>
      <vt:lpstr>KPI Analysis</vt:lpstr>
      <vt:lpstr>Profit by Product Name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QSK1184</dc:creator>
  <cp:lastModifiedBy>QSK1184</cp:lastModifiedBy>
  <cp:revision>1</cp:revision>
  <dcterms:created xsi:type="dcterms:W3CDTF">2025-12-04T06:50:13Z</dcterms:created>
  <dcterms:modified xsi:type="dcterms:W3CDTF">2025-12-04T06:55:02Z</dcterms:modified>
</cp:coreProperties>
</file>